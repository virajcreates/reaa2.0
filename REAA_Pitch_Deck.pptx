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914400"/>
            <a:ext cx="4572000" cy="320040"/>
          </a:xfrm>
          <a:prstGeom prst="rect">
            <a:avLst>
              <a:gd name="adj" fmla="val 42857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LEGAL &amp; STATISTICAL INTELLIGENCE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 RERA Advisory Intelligence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Redefining PropTech Compliance with Dual-Engine RAG, Agentic Text-to-SQL,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Native Multimodal Document Analysis.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1783080" cy="365760"/>
          </a:xfrm>
          <a:prstGeom prst="rect">
            <a:avLst>
              <a:gd name="adj" fmla="val 20000"/>
            </a:avLst>
          </a:prstGeom>
          <a:solidFill>
            <a:srgbClr val="0D0D11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Architect: Viraj D Naik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88920" y="3566160"/>
            <a:ext cx="1783080" cy="365760"/>
          </a:xfrm>
          <a:prstGeom prst="rect">
            <a:avLst>
              <a:gd name="adj" fmla="val 20000"/>
            </a:avLst>
          </a:prstGeom>
          <a:solidFill>
            <a:srgbClr val="0D0D11"/>
          </a:solidFill>
          <a:ln w="9525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3.5 Flash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3566160"/>
            <a:ext cx="1783080" cy="365760"/>
          </a:xfrm>
          <a:prstGeom prst="rect">
            <a:avLst>
              <a:gd name="adj" fmla="val 20000"/>
            </a:avLst>
          </a:prstGeom>
          <a:solidFill>
            <a:srgbClr val="0D0D11"/>
          </a:solidFill>
          <a:ln w="9525">
            <a:solidFill>
              <a:srgbClr val="064E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&amp; pg_cron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37960" y="3566160"/>
            <a:ext cx="1783080" cy="365760"/>
          </a:xfrm>
          <a:prstGeom prst="rect">
            <a:avLst>
              <a:gd name="adj" fmla="val 20000"/>
            </a:avLst>
          </a:prstGeom>
          <a:solidFill>
            <a:srgbClr val="0D0D11"/>
          </a:solidFill>
          <a:ln w="9525">
            <a:solidFill>
              <a:srgbClr val="7835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5661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&amp; Astra DB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&amp; Built by Viraj D Naik  •  Live at reaa.vercel.app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•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PropTech Bottleneck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diligence in the Indian real estate market is notoriously opaque, fragmented, and excruciatingly manual.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Verification Latency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Homebuyers &amp; legal counsel spend 2 to 4 weeks manually verifying documents.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200+ page sanction plans, commencement certificates, &amp; encumbrance NOCs.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Cross-referencing disparate government portals with zero central harmonization.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Legal Frameworks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5146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friction: Real Estate (Regulation &amp; Development) Act 2016 (Central).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 RERA Rules 2017 plus ongoing High Court &amp; Supreme Court precedents.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circulars, gazettes, and tribunal orders trapped in disparate silos.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Justice for Homebuyers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confusion between Form M (Authority refund/interest) vs. Form N (Compensation).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Victims of delayed handover lack real-time interest calculation tools under Section 18.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Tribunal backlogs grow due to defectively structured legal submissions.
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• THE LEGACY FAILURE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Systems Fail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document processing pipelines and generic LLM wrappers break when confronted with Indian regulatory complexity.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COLLAPSE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OCR Inefficacy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and standard cloud OCR fail on physical Indian revenue stamp papers.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Distorted multi-generation photocopies, skewed angles, and faint government seals.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corruption rate exceeds 40% on non-standardized developer sale agreements.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BARRIER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Fragmentation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Karnataka filings mix Kannada (ಕನ್ನಡ), formal legal Hindi (हिन्दी), and English.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NLP tokenizers hallucinate land tenure terms (e.g. Khata,RTC,Survey nos).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of unified cross-lingual legal embeddings creates massive blind spots.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BLINDNESS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Relational Limits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relational databases cannot interpret statutory text or legal ambiguity.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vector RAG cannot compute quantitative statistics across thousands of records.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Homebuyers cannot answer: "Total project cost of delayed builders in Bengaluru".
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Legal &amp; Statistical Intelligence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fundamental paradigm shift from static keyword search to an autonomous, dual-engine reasoning agent.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749040" cy="2788920"/>
          </a:xfrm>
          <a:prstGeom prst="rect">
            <a:avLst>
              <a:gd name="adj" fmla="val 3279"/>
            </a:avLst>
          </a:prstGeom>
          <a:solidFill>
            <a:srgbClr val="0D0D11"/>
          </a:solidFill>
          <a:ln w="10160">
            <a:solidFill>
              <a:srgbClr val="3F3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PARADIGM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1488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Keyword search with low recall and zero semantic reasoning.
</a:t>
            </a:r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Manual cross-referencing across 3 disparate regulatory portals.
</a:t>
            </a:r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Days spent manually compiling Form M / Form N tribunal pleadings.
</a:t>
            </a:r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Rigid OCR pipelines with 40%+ text corruption on Indian stamp papers.
</a:t>
            </a:r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Inability to execute real-time quantitative calculations on project stats.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749040" cy="2788920"/>
          </a:xfrm>
          <a:prstGeom prst="rect">
            <a:avLst>
              <a:gd name="adj" fmla="val 3279"/>
            </a:avLst>
          </a:prstGeom>
          <a:solidFill>
            <a:srgbClr val="0A101D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783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REAA AGENTIC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Dual-Engine Router dynamically dispatching law (RAG) vs math (SQL).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Native Multimodal Vision parsing raw PDF buffers with Gemini 3.5 Flash.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Automated pg_cron TTL ensuring guaranteed 1-hour ephemeral privacy.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Trilingual native reasoning across English, Kannada, and Hindi.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Direct Supabase PostgreSQL aggregation across 9,800+ real estate projects.
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Dual-Engine Router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query classifier autonomously decides between dense statutory RAG and real-time SQL execution.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749040" cy="2788920"/>
          </a:xfrm>
          <a:prstGeom prst="rect">
            <a:avLst>
              <a:gd name="adj" fmla="val 3279"/>
            </a:avLst>
          </a:prstGeom>
          <a:solidFill>
            <a:srgbClr val="0D0D11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A: SEMANTIC RAG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Interpretation &amp; Legal Precedents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3,072-dimension vector embeddings in Pinecone index.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DataStax Astra DB (rera_links) cataloging 200,000+ legal citations.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 RERA Act 2016, Karnataka RERA Rules 2017, &amp; High Court orders.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citation extraction generating verified government hyperlinks.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3383280" cy="594360"/>
          </a:xfrm>
          <a:prstGeom prst="rect">
            <a:avLst>
              <a:gd name="adj" fmla="val 12308"/>
            </a:avLst>
          </a:prstGeom>
          <a:solidFill>
            <a:srgbClr val="000000"/>
          </a:solidFill>
          <a:ln w="762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03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Query: "What is the delayed possession interest rate under Section 18?" → Routes to Pinecone Semantic RAG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3749040" cy="2788920"/>
          </a:xfrm>
          <a:prstGeom prst="rect">
            <a:avLst>
              <a:gd name="adj" fmla="val 3279"/>
            </a:avLst>
          </a:prstGeom>
          <a:solidFill>
            <a:srgbClr val="0D0D11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83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B: TEXT-TO-SQL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Aggregation &amp; Database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33172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3.5 Flash autonomous tool calling: query_krera_sql_database.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execution on Supabase PostgreSQL with read-only security guards.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over 9,800+ registered projects, promoters, and litigations.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real-time counts, sums, date comparisons, and status filters.
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3383280" cy="594360"/>
          </a:xfrm>
          <a:prstGeom prst="rect">
            <a:avLst>
              <a:gd name="adj" fmla="val 12308"/>
            </a:avLst>
          </a:prstGeom>
          <a:solidFill>
            <a:srgbClr val="000000"/>
          </a:solidFill>
          <a:ln w="7620">
            <a:solidFill>
              <a:srgbClr val="272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703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Query: "Count delayed projects in Bengaluru Urban &amp; sum total cost" → Executes SQL: SELECT COUNT(*), SUM(cost)...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MULTIMODAL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Bypassing OCR with Gemini 3.5 Flash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raw buffer multimodal ingestion eliminating third-party OCR errors entirely.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RAW BUFFER STREAMING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Zero-OCR Ingestion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agreements uploaded via chat interface directly to Supabase Storage.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routes convert files into Base64 byte buffers in-memory.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Buffers streamed directly into Gemini 3.5 Flash multimodal context window.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bypasses lossy intermediate OCR text extraction steps.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NATIVE COMPUTER VISION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Handwriting &amp; Seal Parsing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3.5 Flash natively decodes complex multi-column layouts and tables.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physical rubber stamps, sub-registrar seals, and handwritten dates.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surveyed land parcel boundary coordinates directly from scanned drawings.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clause numbers and penalty terms without formatting loss.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STATUTORY CROSS-EXAM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covenants across English, Kannada (ಕನ್ನಡ), and Hindi (हिन्दी).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Cross-references scanned completion dates against live registered K-RERA data.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unfair builder clauses conflicting with Section 18 or 13 of RERA Act.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itemized legal audit summaries for homebuyers in seconds.
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CONFIDENTIALITY &amp; PRIVACY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Zero-Retention Architecture (pg_cron TTL)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document privacy ensuring sensitive personal property deeds are never retained.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7680960" cy="2788920"/>
          </a:xfrm>
          <a:prstGeom prst="rect">
            <a:avLst>
              <a:gd name="adj" fmla="val 3279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1-HOUR TIME-TO-LIVE (TTL) LIFECYCLE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0" y="1783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Zero Data Liability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temporary bucket: temp_documents in Supabase Storage.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Homebuyers upload highly sensitive unredacted sale agreements &amp; allotment letters.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background cron task runs every 15 minutes via PostgreSQL extension pg_cron.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Permanently purges files older than 60 minutes with zero developer intervention required.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cloud retention eliminates compliance liability under Indian DPDP Act 2023.
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48840"/>
            <a:ext cx="3200400" cy="2011680"/>
          </a:xfrm>
          <a:prstGeom prst="rect">
            <a:avLst>
              <a:gd name="adj" fmla="val 3636"/>
            </a:avLst>
          </a:prstGeom>
          <a:solidFill>
            <a:srgbClr val="000000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2402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PostgreSQL pg_cron automated purge sweep
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cron.schedule(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'cleanup-temp-documents',
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'*/15 * * * *',
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$$
</a:t>
            </a:r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FROM storage.objects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bucket_id = 'temp_documents'
</a:t>
            </a:r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created_at &lt; NOW() - INTERVAL '1 hour';
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$$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TENANT PRIVACY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Tenant Isolation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Cryptographically isolated consultation sessions and conversation threads powered by Supabase RLS.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3749040" cy="2788920"/>
          </a:xfrm>
          <a:prstGeom prst="rect">
            <a:avLst>
              <a:gd name="adj" fmla="val 3279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ROW LEVEL SECURITY (RLS)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Database-Enforced Access Control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enforced directly inside PostgreSQL engine on consultations &amp; messages tables.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condition: auth.uid() = user_id guarantees cross-tenant isolation.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any user from reading or querying another citizen's legal consultation.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application-layer leakage: unauthorized queries return empty result sets.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3749040" cy="2788920"/>
          </a:xfrm>
          <a:prstGeom prst="rect">
            <a:avLst>
              <a:gd name="adj" fmla="val 3279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7830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AUTHENTICATION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&amp; Server Cookie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Google OAuth single sign-on for instant access without password friction.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Next.js middleware token synchronization via @supabase/ssr.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JWT tokens validate session identity on every incoming request.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session rotation and refresh ensures zero vulnerability window.
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• INTERFACE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Aesthetics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Crafted with an Uber/Grok-inspired pure monochromatic palette and deliberate, high-contrast semantic accents.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Hardware-Accelerated Video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60fps HTML5 looping background video rendering cityscapes on login screen.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legal balance emblem positioned with pixel-precision over AI watermark.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Ultra-fast First Contentful Paint (&lt;0.8s) leveraging Next.js 14 streaming SSR.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Blue Citations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Black &amp; White interface punctuated exclusively by text-blue-400 hyperlinks.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clear visual affordance directly linking to official K-RERA gazettes &amp; orders.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citation pills display source document, section number, and authority.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Trilingual Voice Dictation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speech-to-text allowing voice queries in Kannada, Hindi, and English.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language detection adapts prompt engineering to target dialect.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Empowers non-technical citizens and rural land allottees to voice complaints.
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• FUTURE SCALABILITY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Beyond Karnataka: Pan-India RERA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dual-engine architecture is schema-agnostic, built to expand across every Indian state authority.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PHASE 3.1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MahaRERA (Maharashtra)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of 40,000+ registered projects across Mumbai, Pune, and Thane.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MahaRERA Conciliation Forum records and Marathi legal gazettes.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TAM: India’s highest real estate transaction value and litigation volume.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PHASE 3.2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RERA (Noida / NCR)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of high-density NCR developer dispute and delayed handover records.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Recovery Certificates (RCs) and builder insolvency proceedings.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support for Greater Noida and Yamuna Expressway authority projects.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PHASE 3.3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Knowledge Graph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promoter rating index analyzing historical delivery punctuality.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Cross-state corporate entity mapping uncovering disguised multi-state shell LLPs.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benchmark intelligence for institutional lenders and regulators.
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  |  </a:t>
            </a:r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• ENTERPRISE MONETIZATION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APIs &amp; Automation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Unlocking B2B recurring enterprise revenue across developers, law firms, and institutional lenders.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7680960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REAA: Karnataka RERA Advisory Intelligence  •  Built by Viraj D Naik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SAAS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CRM Webhooks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70% escrow account withdrawal compliance monitoring.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progress report (QPR) filing alerts and documentation gap detection.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with Salesforce, HubSpot, and proprietary builder ERPs.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TECH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Advocate Legal Drafting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automated complaint drafting for RERA lawyers and aggrieved homebuyers.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formatted Form M (Authority) and Form N (Adjudicating Officer) petitions.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Auto-calculates interest claims under Section 18 benchmarked to SBI MCLR + 2%.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600200"/>
            <a:ext cx="2468880" cy="2788920"/>
          </a:xfrm>
          <a:prstGeom prst="rect">
            <a:avLst>
              <a:gd name="adj" fmla="val 3704"/>
            </a:avLst>
          </a:prstGeom>
          <a:solidFill>
            <a:srgbClr val="0D0D11"/>
          </a:solidFill>
          <a:ln w="10160">
            <a:solidFill>
              <a:srgbClr val="272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7373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&amp; BANKING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Due Diligence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1031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title risk scoring and project status validation for home loan underwriters.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Underwriters verify encumbrances and active builder litigation in under 5 seconds.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High-margin API monetization tier sold to mortgage banks, NBFCs, and PE funds.
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3657600" cy="320040"/>
          </a:xfrm>
          <a:prstGeom prst="rect">
            <a:avLst>
              <a:gd name="adj" fmla="val 42857"/>
            </a:avLst>
          </a:prstGeom>
          <a:solidFill>
            <a:srgbClr val="064E3B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0" y="731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 ON NEXT.JS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Real Estate Due Diligence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Autonomous. Instantaneous. Transparent.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2331720" cy="1371600"/>
          </a:xfrm>
          <a:prstGeom prst="rect">
            <a:avLst>
              <a:gd name="adj" fmla="val 6667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06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Live Deployment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https://reaa.vercel.app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Next.js 14 production build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29000" y="2468880"/>
            <a:ext cx="2331720" cy="1371600"/>
          </a:xfrm>
          <a:prstGeom prst="rect">
            <a:avLst>
              <a:gd name="adj" fmla="val 6667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606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Pitch Route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http://localhost:3000/pitch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0" y="3337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12-slide full-screen presentation engine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2468880"/>
            <a:ext cx="2331720" cy="1371600"/>
          </a:xfrm>
          <a:prstGeom prst="rect">
            <a:avLst>
              <a:gd name="adj" fmla="val 6667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6060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Repository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2971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github.com/Virajcreates/ReAA2.0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80760" y="3337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Dual-Engine RAG &amp; Multimodal Pipeline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&amp; Engineered by Viraj D Naik  •  REAA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REAA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REAA: Karnataka RERA Advisory Intelligence</dc:title>
  <dc:subject>PropTech Compliance &amp; Regulatory Intelligence Pitch Deck</dc:subject>
  <dc:creator>Viraj D Naik</dc:creator>
  <cp:lastModifiedBy>Viraj D Naik</cp:lastModifiedBy>
  <cp:revision>1</cp:revision>
  <dcterms:created xsi:type="dcterms:W3CDTF">2026-09-14T18:13:12Z</dcterms:created>
  <dcterms:modified xsi:type="dcterms:W3CDTF">2026-09-14T18:13:12Z</dcterms:modified>
</cp:coreProperties>
</file>